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yourself and the topic: AI making reverse engineering efficient, games as the proof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Hook: Minecraft-style systems appearing inside Elden Ring — ask how without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for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RE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Pain of stripped symbols.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 LLM4Decompile numbers briefly; emphasize Ghidra+LLM refine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tools remain foundation.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games: closed binaries.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passthrough without drowning in jargon.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routes taxonomy.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Serious twin: matching decomps.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Limits and ethics — keep academic 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floor.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AI-Powered Reverse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7E2EA"/>
                </a:solidFill>
                <a:latin typeface="Calibri"/>
              </a:rPr>
              <a:t>Video games as a case study in compiled-code modification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657600"/>
            <a:ext cx="2011680" cy="54864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7E2EA"/>
                </a:solidFill>
                <a:latin typeface="Calibri"/>
              </a:rPr>
              <a:t>Ankrit Jarngal  ·  Enroll. No. 2023BSE028
B.Tech CSE  ·  NIT Srinagar  ·  2025–2026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8321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One game can run inside another — without the studio’s source.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828800"/>
            <a:ext cx="4114800" cy="347472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HOST
Elden Ring
(compiled world)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1828800"/>
            <a:ext cx="4114800" cy="3474720"/>
          </a:xfrm>
          <a:prstGeom prst="roundRect">
            <a:avLst>
              <a:gd name="adj" fmla="val 10000"/>
            </a:avLst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GUEST
Minecraft
(live process)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32004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E86A33"/>
                </a:solidFill>
                <a:latin typeface="Calibri"/>
              </a:rPr>
              <a:t>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F3E4E"/>
                </a:solidFill>
                <a:latin typeface="Calibri"/>
              </a:rPr>
              <a:t>Bridge: camera · collision · damage · depth composite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8321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Three stops: how RE works, how AI helps, what games reveal.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200400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3200400" cy="13716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7A8C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1089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Calibri"/>
              </a:rPr>
              <a:t>Classical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840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F3E4E"/>
                </a:solidFill>
                <a:latin typeface="Calibri"/>
              </a:rPr>
              <a:t>Binary → insight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011680"/>
            <a:ext cx="3200400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2011680"/>
            <a:ext cx="3200400" cy="13716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7A8C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1089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Calibri"/>
              </a:rPr>
              <a:t>AI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840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F3E4E"/>
                </a:solidFill>
                <a:latin typeface="Calibri"/>
              </a:rPr>
              <a:t>Names, types, loops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2011680"/>
            <a:ext cx="3200400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0" y="2011680"/>
            <a:ext cx="3200400" cy="13716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7A8C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1089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Calibri"/>
              </a:rPr>
              <a:t>Game bridges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840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F3E4E"/>
                </a:solidFill>
                <a:latin typeface="Calibri"/>
              </a:rPr>
              <a:t>Compiled mashups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8321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Reverse engineering recovers meaning from compiled binaries.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743200"/>
            <a:ext cx="1828800" cy="128016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Calibri"/>
              </a:rPr>
              <a:t>Binary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3063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F7A8C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39" y="2743200"/>
            <a:ext cx="1828800" cy="128016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Calibri"/>
              </a:rPr>
              <a:t>Disasm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79" y="3063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F7A8C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2743200"/>
            <a:ext cx="1828800" cy="128016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Calibri"/>
              </a:rPr>
              <a:t>Decompile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3063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F7A8C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59" y="2743200"/>
            <a:ext cx="1828800" cy="128016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Calibri"/>
              </a:rPr>
              <a:t>Types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399" y="3063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F7A8C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19" y="2743200"/>
            <a:ext cx="1828800" cy="1280160"/>
          </a:xfrm>
          <a:prstGeom prst="roundRect">
            <a:avLst>
              <a:gd name="adj" fmla="val 10000"/>
            </a:avLst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Calibri"/>
              </a:rPr>
              <a:t>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F3E4E"/>
                </a:solidFill>
                <a:latin typeface="Calibri"/>
              </a:rPr>
              <a:t>Not rewriting from scratch — interpreting what the compiler already emitted.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8321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Classical tools are strong; naming and structure still burn hours.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4754880" cy="365760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2600" b="1">
                <a:solidFill>
                  <a:srgbClr val="FFFFFF"/>
                </a:solidFill>
                <a:latin typeface="Calibri"/>
              </a:rPr>
              <a:t>sub_401000
local_28
offset +0x2C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1945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>
                <a:solidFill>
                  <a:srgbClr val="1F7A8C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2011680"/>
            <a:ext cx="4572000" cy="3657600"/>
          </a:xfrm>
          <a:prstGeom prst="roundRect">
            <a:avLst>
              <a:gd name="adj" fmla="val 10000"/>
            </a:avLst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2600" b="1">
                <a:solidFill>
                  <a:srgbClr val="FFFFFF"/>
                </a:solidFill>
                <a:latin typeface="Calibri"/>
              </a:rPr>
              <a:t>load_player()
health
Hitbox.radius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8321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Specialized LLMs raise decompilation re-executability.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03120"/>
            <a:ext cx="310896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03120"/>
            <a:ext cx="3108960" cy="109728"/>
          </a:xfrm>
          <a:prstGeom prst="rect">
            <a:avLst/>
          </a:prstGeom>
          <a:solidFill>
            <a:srgbClr val="2F3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0B1F3A"/>
                </a:solidFill>
                <a:latin typeface="Calibri"/>
              </a:rPr>
              <a:t>~20%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02336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F3E4E"/>
                </a:solidFill>
                <a:latin typeface="Calibri"/>
              </a:rPr>
              <a:t>Ghidra alone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103120"/>
            <a:ext cx="310896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2103120"/>
            <a:ext cx="3108960" cy="109728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7432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0B1F3A"/>
                </a:solidFill>
                <a:latin typeface="Calibri"/>
              </a:rPr>
              <a:t>~45%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402336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F3E4E"/>
                </a:solidFill>
                <a:latin typeface="Calibri"/>
              </a:rPr>
              <a:t>LLM4Decompile-End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103120"/>
            <a:ext cx="310896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2103120"/>
            <a:ext cx="3108960" cy="109728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7432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0B1F3A"/>
                </a:solidFill>
                <a:latin typeface="Calibri"/>
              </a:rPr>
              <a:t>~53%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02336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F3E4E"/>
                </a:solidFill>
                <a:latin typeface="Calibri"/>
              </a:rPr>
              <a:t>Ghidra + LLM Ref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F3E4E"/>
                </a:solidFill>
                <a:latin typeface="Calibri"/>
              </a:rPr>
              <a:t>Source: Tan et al., LLM4Decompile (EMNLP 2024), HumanEval-Decompile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8321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AI sits on classical RE tools — it does not replace them.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743200"/>
            <a:ext cx="2468880" cy="164592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FFFFFF"/>
                </a:solidFill>
                <a:latin typeface="Calibri"/>
              </a:rPr>
              <a:t>Ghidra / IDA
Binary Ninja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2743200"/>
            <a:ext cx="2468880" cy="164592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FFFFFF"/>
                </a:solidFill>
                <a:latin typeface="Calibri"/>
              </a:rPr>
              <a:t>LLM refine
names · types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743200"/>
            <a:ext cx="2468880" cy="164592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FFFFFF"/>
                </a:solidFill>
                <a:latin typeface="Calibri"/>
              </a:rPr>
              <a:t>Agent + MCP
iterate hooks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2743200"/>
            <a:ext cx="2468880" cy="164592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FFFFFF"/>
                </a:solidFill>
                <a:latin typeface="Calibri"/>
              </a:rPr>
              <a:t>Verify
build · diff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32004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F7A8C"/>
                </a:solidFill>
                <a:latin typeface="Calibr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32004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F7A8C"/>
                </a:solidFill>
                <a:latin typeface="Calibri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2004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F7A8C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29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F3E4E"/>
                </a:solidFill>
                <a:latin typeface="Calibri"/>
              </a:rPr>
              <a:t>Industry pattern: refine pseudo-C, then prove it against bytes.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8321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Closed game engines make RE — not greenfield coding — the bottleneck.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011680"/>
            <a:ext cx="91440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37360" y="224028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7A8C"/>
                </a:solidFill>
                <a:latin typeface="Calibri"/>
              </a:rPr>
              <a:t>No 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228600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B1F3A"/>
                </a:solidFill>
                <a:latin typeface="Calibri"/>
              </a:rPr>
              <a:t>Optimized native binaries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3383280"/>
            <a:ext cx="91440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361188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7A8C"/>
                </a:solidFill>
                <a:latin typeface="Calibri"/>
              </a:rPr>
              <a:t>Deep 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65760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B1F3A"/>
                </a:solidFill>
                <a:latin typeface="Calibri"/>
              </a:rPr>
              <a:t>Camera, collision, damage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754880"/>
            <a:ext cx="91440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498348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7A8C"/>
                </a:solidFill>
                <a:latin typeface="Calibri"/>
              </a:rPr>
              <a:t>Few APIs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02920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B1F3A"/>
                </a:solidFill>
                <a:latin typeface="Calibri"/>
              </a:rPr>
              <a:t>Official mod surfaces are thin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8321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Passthrough bridges keep both binaries alive and share one frame.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291840" cy="384048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800" b="1">
                <a:solidFill>
                  <a:srgbClr val="FFFFFF"/>
                </a:solidFill>
                <a:latin typeface="Calibri"/>
              </a:rPr>
              <a:t>GUEST
pose
frames
hits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2560320"/>
            <a:ext cx="3200400" cy="2377440"/>
          </a:xfrm>
          <a:prstGeom prst="roundRect">
            <a:avLst>
              <a:gd name="adj" fmla="val 10000"/>
            </a:avLst>
          </a:prstGeom>
          <a:solidFill>
            <a:srgbClr val="E86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800" b="1">
                <a:solidFill>
                  <a:srgbClr val="FFFFFF"/>
                </a:solidFill>
                <a:latin typeface="Calibri"/>
              </a:rPr>
              <a:t>SHARED
MEMORY
/ IPC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1828800"/>
            <a:ext cx="3291840" cy="3840480"/>
          </a:xfrm>
          <a:prstGeom prst="roundRect">
            <a:avLst>
              <a:gd name="adj" fmla="val 10000"/>
            </a:avLst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800" b="1">
                <a:solidFill>
                  <a:srgbClr val="FFFFFF"/>
                </a:solidFill>
                <a:latin typeface="Calibri"/>
              </a:rPr>
              <a:t>HOST
camera
rays
Present()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F3E4E"/>
                </a:solidFill>
                <a:latin typeface="Calibri"/>
              </a:rPr>
              <a:t>Example path: Fabric mod ↔ DLL in Elden Ring (offline)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8321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Four routes put one game inside another.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2651760" cy="329184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46888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Content
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062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7E2EA"/>
                </a:solidFill>
                <a:latin typeface="Calibri"/>
              </a:rPr>
              <a:t>Assets → host formats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39" y="2103120"/>
            <a:ext cx="2651760" cy="3291840"/>
          </a:xfrm>
          <a:prstGeom prst="roundRect">
            <a:avLst>
              <a:gd name="adj" fmla="val 10000"/>
            </a:avLst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9" y="246888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Pass-
through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599" y="42062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7E2EA"/>
                </a:solidFill>
                <a:latin typeface="Calibri"/>
              </a:rPr>
              <a:t>Two processes + sync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03120"/>
            <a:ext cx="2651760" cy="329184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46888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Headless
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2062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7E2EA"/>
                </a:solidFill>
                <a:latin typeface="Calibri"/>
              </a:rPr>
              <a:t>Reimplement logic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59" y="2103120"/>
            <a:ext cx="2651760" cy="3291840"/>
          </a:xfrm>
          <a:prstGeom prst="roundRect">
            <a:avLst>
              <a:gd name="adj" fmla="val 10000"/>
            </a:avLst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19" y="246888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Decomp as
library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19" y="42062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7E2EA"/>
                </a:solidFill>
                <a:latin typeface="Calibri"/>
              </a:rPr>
              <a:t>Call matched code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8321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Matching decompilation is the serious twin of mashup demos.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43200"/>
            <a:ext cx="2011680" cy="137160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FFFFFF"/>
                </a:solidFill>
                <a:latin typeface="Calibri"/>
              </a:rPr>
              <a:t>Pick function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59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7A8C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2743200"/>
            <a:ext cx="2011680" cy="137160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FFFFFF"/>
                </a:solidFill>
                <a:latin typeface="Calibri"/>
              </a:rPr>
              <a:t>Write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59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7A8C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2743200"/>
            <a:ext cx="2011680" cy="137160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FFFFFF"/>
                </a:solidFill>
                <a:latin typeface="Calibri"/>
              </a:rPr>
              <a:t>Compile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59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7A8C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2743200"/>
            <a:ext cx="2011680" cy="137160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FFFFFF"/>
                </a:solidFill>
                <a:latin typeface="Calibri"/>
              </a:rPr>
              <a:t>objdiff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59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F7A8C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2743200"/>
            <a:ext cx="2011680" cy="1371600"/>
          </a:xfrm>
          <a:prstGeom prst="roundRect">
            <a:avLst>
              <a:gd name="adj" fmla="val 10000"/>
            </a:avLst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FFFFFF"/>
                </a:solidFill>
                <a:latin typeface="Calibri"/>
              </a:rPr>
              <a:t>Match?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54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F3E4E"/>
                </a:solidFill>
                <a:latin typeface="Calibri"/>
              </a:rPr>
              <a:t>Agent speed + fixed compiler oracle → trustworthy preservation.
Example: Snowboard Kids 2 matching loops (Lewis, 2026).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8321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Capability rose; correctness, legality, and verification still bind us.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475488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33172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Calibri"/>
              </a:rPr>
              <a:t>Hallucinations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9260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F3E4E"/>
                </a:solidFill>
                <a:latin typeface="Calibri"/>
              </a:rPr>
              <a:t>Plausible ≠ correct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11680"/>
            <a:ext cx="475488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33172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Calibri"/>
              </a:rPr>
              <a:t>Obfuscation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9260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F3E4E"/>
                </a:solidFill>
                <a:latin typeface="Calibri"/>
              </a:rPr>
              <a:t>Still breaks models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023360"/>
            <a:ext cx="475488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43434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Calibri"/>
              </a:rPr>
              <a:t>Rights / EULA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9377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F3E4E"/>
                </a:solidFill>
                <a:latin typeface="Calibri"/>
              </a:rPr>
              <a:t>Assets aren’t free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023360"/>
            <a:ext cx="475488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3434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Calibri"/>
              </a:rPr>
              <a:t>Anti-cheat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49377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F3E4E"/>
                </a:solidFill>
                <a:latin typeface="Calibri"/>
              </a:rPr>
              <a:t>Offline-only for serious work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8321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AI compresses the reverse-engineering bottleneck — it does not erase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286000"/>
            <a:ext cx="9326880" cy="320040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926080"/>
            <a:ext cx="8412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Calibri"/>
              </a:rPr>
              <a:t>Classical tools measure the bytes.
LLMs draft the meaning.
Humans — and oracles — decide what ships.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291840"/>
            <a:ext cx="2011680" cy="54864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7E2EA"/>
                </a:solidFill>
                <a:latin typeface="Calibri"/>
              </a:rPr>
              <a:t>Ankrit Jarngal  ·  2023BSE028
Computer Science and Engineering  ·  NIT Srinagar
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